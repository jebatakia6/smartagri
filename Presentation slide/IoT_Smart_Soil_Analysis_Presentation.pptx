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5486400" cy="5394960"/>
          </a:xfrm>
          <a:prstGeom prst="roundRect">
            <a:avLst/>
          </a:prstGeom>
          <a:solidFill>
            <a:srgbClr val="F5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47548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500"/>
              </a:spcAft>
              <a:defRPr sz="1100" b="1" i="0">
                <a:solidFill>
                  <a:srgbClr val="185A9D"/>
                </a:solidFill>
                <a:latin typeface="Segoe UI"/>
              </a:defRPr>
            </a:pPr>
            <a:r>
              <a:t>FINAL YEAR CSE PROJECT PROPOSAL</a:t>
            </a:r>
          </a:p>
          <a:p>
            <a:pPr algn="l">
              <a:spcAft>
                <a:spcPts val="2500"/>
              </a:spcAft>
              <a:defRPr sz="2800" b="1" i="0">
                <a:solidFill>
                  <a:srgbClr val="22703F"/>
                </a:solidFill>
                <a:latin typeface="Segoe UI"/>
              </a:defRPr>
            </a:pPr>
            <a:r>
              <a:t>IoT-Based Smart Soil</a:t>
            </a:r>
            <a:br/>
            <a:r>
              <a:t>Analysis and AI-Powered</a:t>
            </a:r>
            <a:br/>
            <a:r>
              <a:t>Crop Recommendation</a:t>
            </a:r>
            <a:br/>
            <a:r>
              <a:t>System</a:t>
            </a:r>
          </a:p>
          <a:p>
            <a:pPr algn="l">
              <a:spcAft>
                <a:spcPts val="400"/>
              </a:spcAft>
              <a:defRPr sz="1000" b="1" i="0">
                <a:solidFill>
                  <a:srgbClr val="637381"/>
                </a:solidFill>
                <a:latin typeface="Segoe UI"/>
              </a:defRPr>
            </a:pPr>
            <a:r>
              <a:t>STUDENTS:</a:t>
            </a:r>
          </a:p>
          <a:p>
            <a:pPr algn="l">
              <a:spcAft>
                <a:spcPts val="2000"/>
              </a:spcAft>
              <a:defRPr sz="1300" b="1" i="0">
                <a:solidFill>
                  <a:srgbClr val="212B36"/>
                </a:solidFill>
                <a:latin typeface="Calibri"/>
              </a:defRPr>
            </a:pPr>
            <a:r>
              <a:t>• Jeba Takia (210104)</a:t>
            </a:r>
            <a:br/>
            <a:r>
              <a:t>• MD Mushfiqur Rahman Mahim (210131)</a:t>
            </a:r>
          </a:p>
          <a:p>
            <a:pPr algn="l">
              <a:spcAft>
                <a:spcPts val="400"/>
              </a:spcAft>
              <a:defRPr sz="1000" b="1" i="0">
                <a:solidFill>
                  <a:srgbClr val="637381"/>
                </a:solidFill>
                <a:latin typeface="Segoe UI"/>
              </a:defRPr>
            </a:pPr>
            <a:r>
              <a:t>INSTITUTION: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Department of Computer Science and Engineering</a:t>
            </a:r>
            <a:br/>
            <a:r>
              <a:t>Daffodil Institute of IT</a:t>
            </a:r>
            <a:br/>
            <a:r>
              <a:t>Session: 2020-21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0" y="731520"/>
            <a:ext cx="4937760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tle_slide_visual_17806687884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822960"/>
            <a:ext cx="4754880" cy="5212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Introduction to Smart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109728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  <a:defRPr sz="1800" b="1" i="0">
                <a:solidFill>
                  <a:srgbClr val="22703F"/>
                </a:solidFill>
                <a:latin typeface="Segoe UI"/>
              </a:defRPr>
            </a:pPr>
            <a:r>
              <a:t>The Paradigm Shift</a:t>
            </a:r>
          </a:p>
          <a:p>
            <a:pPr algn="l">
              <a:spcAft>
                <a:spcPts val="1400"/>
              </a:spcAft>
              <a:defRPr sz="1300" b="0" i="0">
                <a:solidFill>
                  <a:srgbClr val="212B36"/>
                </a:solidFill>
                <a:latin typeface="Calibri"/>
              </a:defRPr>
            </a:pPr>
            <a:r>
              <a:t>Smart agriculture integrates digital technologies, real-time sensing, and analytical modeling to automate and optimize farming practices. As global food demand rises, farming must evolve from a reactive industry to a predictive, data-driven science.</a:t>
            </a:r>
          </a:p>
          <a:p>
            <a:pPr algn="l">
              <a:spcAft>
                <a:spcPts val="600"/>
              </a:spcAft>
              <a:defRPr sz="1200" b="1" i="0">
                <a:solidFill>
                  <a:srgbClr val="185A9D"/>
                </a:solidFill>
                <a:latin typeface="Segoe UI"/>
              </a:defRPr>
            </a:pPr>
            <a:r>
              <a:t>Key Technology Pillars: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• IoT Sensors: Continuous field telemetry (pH, Moisture, Temp).</a:t>
            </a:r>
            <a:br/>
            <a:r>
              <a:t>• Machine Learning: Smart predictive algorithms for cropping.</a:t>
            </a:r>
            <a:br/>
            <a:r>
              <a:t>• Cloud Integration: Centralized telemetry archives and API access.</a:t>
            </a:r>
            <a:br/>
            <a:r>
              <a:t>• Automation: Precision resource distribution (smart irrigation).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109728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  <a:defRPr sz="1800" b="1" i="0">
                <a:solidFill>
                  <a:srgbClr val="185A9D"/>
                </a:solidFill>
                <a:latin typeface="Segoe UI"/>
              </a:defRPr>
            </a:pPr>
            <a:r>
              <a:t>Traditional Farming Bottlenecks</a:t>
            </a:r>
          </a:p>
          <a:p>
            <a:pPr algn="l">
              <a:spcAft>
                <a:spcPts val="1400"/>
              </a:spcAft>
              <a:defRPr sz="1300" b="0" i="0">
                <a:solidFill>
                  <a:srgbClr val="212B36"/>
                </a:solidFill>
                <a:latin typeface="Calibri"/>
              </a:defRPr>
            </a:pPr>
            <a:r>
              <a:t>Conventional farming practices in developing regions heavily depend on historical guesswork, visual cues, and generic seasonal patterns, leading to sub-optimal resource usage and crop failure.</a:t>
            </a:r>
          </a:p>
          <a:p>
            <a:pPr algn="l">
              <a:spcAft>
                <a:spcPts val="600"/>
              </a:spcAft>
              <a:defRPr sz="1200" b="1" i="0">
                <a:solidFill>
                  <a:srgbClr val="22703F"/>
                </a:solidFill>
                <a:latin typeface="Segoe UI"/>
              </a:defRPr>
            </a:pPr>
            <a:r>
              <a:t>Critical Challenges Faced: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• Soil Nutrient Ignorance: Farming without knowing pH or moisture levels.</a:t>
            </a:r>
            <a:br/>
            <a:r>
              <a:t>• Resource Wastage: Over-watering or excessive use of chemical fertilizers.</a:t>
            </a:r>
            <a:br/>
            <a:r>
              <a:t>• Economic Risk: High crop failure rates due to mismatched soil compatibility.</a:t>
            </a:r>
            <a:br/>
            <a:r>
              <a:t>• Unpredictable Climate: Lack of adaptivity to shifting local weather.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09728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800" b="1" i="0">
                <a:solidFill>
                  <a:srgbClr val="22703F"/>
                </a:solidFill>
                <a:latin typeface="Segoe UI"/>
              </a:defRPr>
            </a:pPr>
            <a:r>
              <a:t>01</a:t>
            </a:r>
          </a:p>
          <a:p>
            <a:pPr algn="l">
              <a:spcAft>
                <a:spcPts val="1200"/>
              </a:spcAft>
              <a:defRPr sz="1600" b="1" i="0">
                <a:solidFill>
                  <a:srgbClr val="212B36"/>
                </a:solidFill>
                <a:latin typeface="Segoe UI"/>
              </a:defRPr>
            </a:pPr>
            <a:r>
              <a:t>Guesswork-Based Cultivation</a:t>
            </a:r>
          </a:p>
          <a:p>
            <a:pPr algn="l">
              <a:defRPr sz="1200" b="0" i="0">
                <a:solidFill>
                  <a:srgbClr val="637381"/>
                </a:solidFill>
                <a:latin typeface="Calibri"/>
              </a:defRPr>
            </a:pPr>
            <a:r>
              <a:t>Farmers often grow traditional crops year after year without validating if the soil has degraded. This lack of crop-to-soil compatibility testing directly leads to low yield rates and agricultural economic strain.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109728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800" b="1" i="0">
                <a:solidFill>
                  <a:srgbClr val="185A9D"/>
                </a:solidFill>
                <a:latin typeface="Segoe UI"/>
              </a:defRPr>
            </a:pPr>
            <a:r>
              <a:t>02</a:t>
            </a:r>
          </a:p>
          <a:p>
            <a:pPr algn="l">
              <a:spcAft>
                <a:spcPts val="1200"/>
              </a:spcAft>
              <a:defRPr sz="1600" b="1" i="0">
                <a:solidFill>
                  <a:srgbClr val="212B36"/>
                </a:solidFill>
                <a:latin typeface="Segoe UI"/>
              </a:defRPr>
            </a:pPr>
            <a:r>
              <a:t>No Soil Telemetry Info</a:t>
            </a:r>
          </a:p>
          <a:p>
            <a:pPr algn="l">
              <a:defRPr sz="1200" b="0" i="0">
                <a:solidFill>
                  <a:srgbClr val="637381"/>
                </a:solidFill>
                <a:latin typeface="Calibri"/>
              </a:defRPr>
            </a:pPr>
            <a:r>
              <a:t>Soil properties fluctuate dynamically due to watering, fertilization, and climate. Lab-based soil testing takes weeks and is expensive, leaving farmers with no access to real-time, actionable chemical and moisture telemetry.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09728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  <a:defRPr sz="2800" b="1" i="0">
                <a:solidFill>
                  <a:srgbClr val="22703F"/>
                </a:solidFill>
                <a:latin typeface="Segoe UI"/>
              </a:defRPr>
            </a:pPr>
            <a:r>
              <a:t>03</a:t>
            </a:r>
          </a:p>
          <a:p>
            <a:pPr algn="l">
              <a:spcAft>
                <a:spcPts val="1200"/>
              </a:spcAft>
              <a:defRPr sz="1600" b="1" i="0">
                <a:solidFill>
                  <a:srgbClr val="212B36"/>
                </a:solidFill>
                <a:latin typeface="Segoe UI"/>
              </a:defRPr>
            </a:pPr>
            <a:r>
              <a:t>Technology Adoption Gap</a:t>
            </a:r>
          </a:p>
          <a:p>
            <a:pPr algn="l">
              <a:defRPr sz="1200" b="0" i="0">
                <a:solidFill>
                  <a:srgbClr val="637381"/>
                </a:solidFill>
                <a:latin typeface="Calibri"/>
              </a:defRPr>
            </a:pPr>
            <a:r>
              <a:t>While advanced agricultural sensors and AI technologies exist, they are isolated from local farmers. There is a critical shortage of low-cost, integrated hardware and simple bilingual mobile-friendly dashboard systems.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22703F"/>
                </a:solidFill>
                <a:latin typeface="Segoe UI"/>
              </a:defRPr>
            </a:pPr>
            <a:r>
              <a:t>01. Real-Time Soil Monitoring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Deploy low-cost, high-precision IoT sensors to continuously capture critical soil parameters: pH, moisture content, and ambient temperature/humidity.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85A9D"/>
                </a:solidFill>
                <a:latin typeface="Segoe UI"/>
              </a:defRPr>
            </a:pPr>
            <a:r>
              <a:t>02. Cloud Database &amp; Telemetry logs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Establish a secure, lightweight cloud database to log all real-time field readings, forming a historical timeline for analysis and system auditing.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0624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185A9D"/>
                </a:solidFill>
                <a:latin typeface="Segoe UI"/>
              </a:defRPr>
            </a:pPr>
            <a:r>
              <a:t>03. AI-Powered Crop Recommendation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Design and train an ML classifier (Random Forest/SVM) that processes real-time sensor parameters to recommend the most suitable crop and required fertilizers.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4206240"/>
            <a:ext cx="4389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22703F"/>
                </a:solidFill>
                <a:latin typeface="Segoe UI"/>
              </a:defRPr>
            </a:pPr>
            <a:r>
              <a:t>04. Web Dashboard Visualization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Develop an accessible web interface with real-time graphs, simple health scores, bilingual translation, and automated SMS alerts for soil degradation.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00" b="0" i="1">
                <a:solidFill>
                  <a:srgbClr val="637381"/>
                </a:solidFill>
                <a:latin typeface="Calibri"/>
              </a:defRPr>
            </a:pPr>
            <a:r>
              <a:t>The data starts at the sensors, is processed by ESP32, uploaded to the cloud database, analyzed by AI, and served to the farmer dashboard.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645920" cy="365760"/>
          </a:xfrm>
          <a:prstGeom prst="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01.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pH Sensor</a:t>
            </a:r>
            <a:br/>
            <a:r>
              <a:t>Soil Moisture</a:t>
            </a:r>
            <a:br/>
            <a:r>
              <a:t>DHT22 Temp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3154680"/>
            <a:ext cx="365760" cy="274320"/>
          </a:xfrm>
          <a:prstGeom prst="right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608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2286000"/>
            <a:ext cx="1645920" cy="365760"/>
          </a:xfrm>
          <a:prstGeom prst="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02.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ESP32 MCU</a:t>
            </a:r>
            <a:br/>
            <a:r>
              <a:t>Analog ADC</a:t>
            </a:r>
            <a:br/>
            <a:r>
              <a:t>Wi-Fi Upload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3154680"/>
            <a:ext cx="365760" cy="274320"/>
          </a:xfrm>
          <a:prstGeom prst="right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2286000"/>
            <a:ext cx="1645920" cy="365760"/>
          </a:xfrm>
          <a:prstGeom prst="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03. CLOUD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MySQL / Postgre</a:t>
            </a:r>
            <a:br/>
            <a:r>
              <a:t>Secure API API</a:t>
            </a:r>
            <a:br/>
            <a:r>
              <a:t>JSON Logging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58000" y="3154680"/>
            <a:ext cx="365760" cy="274320"/>
          </a:xfrm>
          <a:prstGeom prst="right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85A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2286000"/>
            <a:ext cx="1645920" cy="365760"/>
          </a:xfrm>
          <a:prstGeom prst="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04. AI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Python ML API</a:t>
            </a:r>
            <a:br/>
            <a:r>
              <a:t>Random Forest</a:t>
            </a:r>
            <a:br/>
            <a:r>
              <a:t>Inference Model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052560" y="3154680"/>
            <a:ext cx="365760" cy="274320"/>
          </a:xfrm>
          <a:prstGeom prst="right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09760" y="2286000"/>
            <a:ext cx="164592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27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509760" y="2286000"/>
            <a:ext cx="1645920" cy="365760"/>
          </a:xfrm>
          <a:prstGeom prst="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05.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2834640"/>
            <a:ext cx="1463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HTML/CSS/JS</a:t>
            </a:r>
            <a:br/>
            <a:r>
              <a:t>Real-time Alerts</a:t>
            </a:r>
            <a:br/>
            <a:r>
              <a:t>Visual Graphs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46320"/>
            <a:ext cx="10698480" cy="1188720"/>
          </a:xfrm>
          <a:prstGeom prst="roundRect">
            <a:avLst/>
          </a:prstGeom>
          <a:solidFill>
            <a:srgbClr val="E4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0292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200" b="1" i="0">
                <a:solidFill>
                  <a:srgbClr val="185A9D"/>
                </a:solidFill>
                <a:latin typeface="Segoe UI"/>
              </a:defRPr>
            </a:pPr>
            <a:r>
              <a:t>Data Flow Summary: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1. Soil values are captured analogously. 2. ESP32 digitizes and transmits via Wi-Fi (HTTP POST/MQTT). 3. Cloud server stores data points in a secure DB. 4. Flask API triggers inference. 5. Recommendations and real-time parameters update on the dashboard.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Hardware Architecture &amp; Sensors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37160" cy="2103120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2703F"/>
                </a:solidFill>
                <a:latin typeface="Segoe UI"/>
              </a:defRPr>
            </a:pPr>
            <a:r>
              <a:t>ESP32 NodeMCU Microcontroller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• Core: Dual-core Tensilica LX6 32-bit MCU with integrated Wi-Fi and Bluetooth.</a:t>
            </a:r>
            <a:br/>
            <a:r>
              <a:t>• Pinouts: Multi-channel 12-bit ADC for sensor calibration and digital GPIOs.</a:t>
            </a:r>
            <a:br/>
            <a:r>
              <a:t>• Purpose: Acts as the central node for sensor calibration, signal digitizing, and HTTP data transmission.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137160" cy="2103120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6459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85A9D"/>
                </a:solidFill>
                <a:latin typeface="Segoe UI"/>
              </a:defRPr>
            </a:pPr>
            <a:r>
              <a:t>Capacitive Soil Moisture Sensor (v1.2)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• Tech: Capacitive measurements prevent probe oxidation and corrosion.</a:t>
            </a:r>
            <a:br/>
            <a:r>
              <a:t>• Principle: Measures dielectric permittivity of surrounding soil to estimate water content percentage.</a:t>
            </a:r>
            <a:br/>
            <a:r>
              <a:t>• Purpose: Signals irrigation frequency requirements.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37160" cy="2103120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2336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85A9D"/>
                </a:solidFill>
                <a:latin typeface="Segoe UI"/>
              </a:defRPr>
            </a:pPr>
            <a:r>
              <a:t>Soil pH Sensor Probe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• Tech: High-precision glass electrode analog probe with signal amplifier.</a:t>
            </a:r>
            <a:br/>
            <a:r>
              <a:t>• Output: 0-5V analog signal proportional to hydrogen-ion activity (pH scale 0-14).</a:t>
            </a:r>
            <a:br/>
            <a:r>
              <a:t>• Purpose: Key driver for crop suitability and fertilizer recommendation.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840480"/>
            <a:ext cx="51206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840480"/>
            <a:ext cx="137160" cy="2103120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02336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2703F"/>
                </a:solidFill>
                <a:latin typeface="Segoe UI"/>
              </a:defRPr>
            </a:pPr>
            <a:r>
              <a:t>DHT22 Temperature &amp; Humidity Sensor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• Specs: Temperature range -40 to 80°C (+-0.5°C); Humidity range 0-100% (+-2% RH).</a:t>
            </a:r>
            <a:br/>
            <a:r>
              <a:t>• Digital: Single-bus interface delivers digitized environmental parameters.</a:t>
            </a:r>
            <a:br/>
            <a:r>
              <a:t>• Purpose: Analyzes microclimate to determine transpiration index.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Software Environment &amp; Core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20640" cy="109728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500"/>
              </a:spcAft>
              <a:defRPr sz="1800" b="1" i="0">
                <a:solidFill>
                  <a:srgbClr val="22703F"/>
                </a:solidFill>
                <a:latin typeface="Segoe UI"/>
              </a:defRPr>
            </a:pPr>
            <a:r>
              <a:t>Firmware &amp; Backend Pipeline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• Arduino IDE (C/C++): Program ESP32 for analog calibration, digital filtering, Wi-Fi reconnection logic, and REST API transmission.</a:t>
            </a:r>
            <a:br/>
            <a:br/>
            <a:r>
              <a:t>• Python Flask / Node.js API: Lightweight backend server. Handles incoming JSON sensor payloads, routes requests, and exposes REST endpoints for the client dashboard.</a:t>
            </a:r>
            <a:br/>
            <a:br/>
            <a:r>
              <a:t>• MySQL / PostgreSQL Database: Relational structure with tables storing client profile details, ESP32 device keys, logged soil data points, and recommendations log.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5120640" cy="109728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920240"/>
            <a:ext cx="438912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500"/>
              </a:spcAft>
              <a:defRPr sz="1800" b="1" i="0">
                <a:solidFill>
                  <a:srgbClr val="185A9D"/>
                </a:solidFill>
                <a:latin typeface="Segoe UI"/>
              </a:defRPr>
            </a:pPr>
            <a:r>
              <a:t>Visualization &amp; ML Pipeline</a:t>
            </a:r>
          </a:p>
          <a:p>
            <a:pPr algn="l"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• HTML5, CSS3, JavaScript (ES6+): Responsive front-end built using CSS grid, flexbox, and Chart.js for real-time visualization graphs.</a:t>
            </a:r>
            <a:br/>
            <a:br/>
            <a:r>
              <a:t>• Machine Learning Suite (Scikit-Learn, Pandas, Numpy): Used to clean agricultural soil datasets, perform feature scaling, train classifiers, and serialize the model for Flask integration.</a:t>
            </a:r>
            <a:br/>
            <a:br/>
            <a:r>
              <a:t>• Twilio / SMS API Gateway: Integrates custom notification loops to automatically push critical SMS alerts to registered farmers during extreme conditions.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System Workflow &amp; Process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22703F"/>
                </a:solidFill>
                <a:latin typeface="Segoe UI"/>
              </a:defRPr>
            </a:pPr>
            <a:r>
              <a:t>Step 1: Data Sensing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Sensors sample pH, moisture, and temperature ambient levels continuously. Analog values are pre-filtered to remove background noise.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8288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85A9D"/>
                </a:solidFill>
                <a:latin typeface="Segoe UI"/>
              </a:defRPr>
            </a:pPr>
            <a:r>
              <a:t>Step 2: Transmission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ESP32 bundles sensor readings into a JSON payload and transmits it securely via HTTP POST request to the cloud endpoint.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82880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22703F"/>
                </a:solidFill>
                <a:latin typeface="Segoe UI"/>
              </a:defRPr>
            </a:pPr>
            <a:r>
              <a:t>Step 3: Cloud Logging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The Flask server parses the request, validates the device token, and logs the telemetry with timestamps into the SQL database.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85A9D"/>
                </a:solidFill>
                <a:latin typeface="Segoe UI"/>
              </a:defRPr>
            </a:pPr>
            <a:r>
              <a:t>Step 4: AI Model Inference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The server triggers the ML inference engine. The pre-trained classifier matches soil parameters against crop compatibility arrays.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023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420624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22703F"/>
                </a:solidFill>
                <a:latin typeface="Segoe UI"/>
              </a:defRPr>
            </a:pPr>
            <a:r>
              <a:t>Step 5: Recommendation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AI outputs the optimal crop type along with specific fertilizer ratios. Warnings are triggered if severe anomalies (e.g. high acidity) are detected.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4023360"/>
            <a:ext cx="3291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206240"/>
            <a:ext cx="27432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400" b="1" i="0">
                <a:solidFill>
                  <a:srgbClr val="185A9D"/>
                </a:solidFill>
                <a:latin typeface="Segoe UI"/>
              </a:defRPr>
            </a:pPr>
            <a:r>
              <a:t>Step 6: Dashboard Update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The Web Dashboard pulls fresh logs via AJAX/WebSockets. Charts re-render, and crop advisory reports update instantly.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14800" y="2514600"/>
            <a:ext cx="228600" cy="182880"/>
          </a:xfrm>
          <a:prstGeom prst="right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772400" y="2514600"/>
            <a:ext cx="228600" cy="182880"/>
          </a:xfrm>
          <a:prstGeom prst="right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own Arrow 17"/>
          <p:cNvSpPr/>
          <p:nvPr/>
        </p:nvSpPr>
        <p:spPr>
          <a:xfrm>
            <a:off x="9601200" y="3749039"/>
            <a:ext cx="182880" cy="228600"/>
          </a:xfrm>
          <a:prstGeom prst="down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 Arrow 18"/>
          <p:cNvSpPr/>
          <p:nvPr/>
        </p:nvSpPr>
        <p:spPr>
          <a:xfrm>
            <a:off x="7772400" y="4892040"/>
            <a:ext cx="228600" cy="182880"/>
          </a:xfrm>
          <a:prstGeom prst="left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eft Arrow 19"/>
          <p:cNvSpPr/>
          <p:nvPr/>
        </p:nvSpPr>
        <p:spPr>
          <a:xfrm>
            <a:off x="4114800" y="4892040"/>
            <a:ext cx="228600" cy="182880"/>
          </a:xfrm>
          <a:prstGeom prst="left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Key Features &amp; Platform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9728" cy="2103120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B36"/>
                </a:solidFill>
                <a:latin typeface="Segoe UI"/>
              </a:defRPr>
            </a:pPr>
            <a:r>
              <a:t>Real-time Telemetry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Provides continuous logging of essential soil chemistry and ambient readings with graphical curves.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109728" cy="2103120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B36"/>
                </a:solidFill>
                <a:latin typeface="Segoe UI"/>
              </a:defRPr>
            </a:pPr>
            <a:r>
              <a:t>AI Recommendation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Utilizes classification algorithms matching multi-parameter inputs against crops with high precision.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109728" cy="2103120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B36"/>
                </a:solidFill>
                <a:latin typeface="Segoe UI"/>
              </a:defRPr>
            </a:pPr>
            <a:r>
              <a:t>Fertilizer Optimizer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Calculates required NPK adjustments based on the difference between present soil and crop ideals.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109728" cy="2103120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B36"/>
                </a:solidFill>
                <a:latin typeface="Segoe UI"/>
              </a:defRPr>
            </a:pPr>
            <a:r>
              <a:t>Irrigation Advisory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Automated alert recommendations for watering based on current moisture content and air humidity profiles.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109728" cy="2103120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062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B36"/>
                </a:solidFill>
                <a:latin typeface="Segoe UI"/>
              </a:defRPr>
            </a:pPr>
            <a:r>
              <a:t>Soil Health Scoring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Aggregates pH variance, water logging, and moisture trends into a unified, clean Health Score (1-100).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931920"/>
            <a:ext cx="32918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109728" cy="2103120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29260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12B36"/>
                </a:solidFill>
                <a:latin typeface="Segoe UI"/>
              </a:defRPr>
            </a:pPr>
            <a:r>
              <a:t>Bilingual Dashboard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Features toggleable English &amp; Bangla views and mobile layout optimization for rural farmers.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AI Crop Recommendation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4572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572000" cy="109728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3840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800" b="1" i="0">
                <a:solidFill>
                  <a:srgbClr val="22703F"/>
                </a:solidFill>
                <a:latin typeface="Segoe UI"/>
              </a:defRPr>
            </a:pPr>
            <a:r>
              <a:t>Decision Logic &amp; Classifiers</a:t>
            </a:r>
          </a:p>
          <a:p>
            <a:pPr algn="l">
              <a:spcAft>
                <a:spcPts val="1400"/>
              </a:spcAft>
              <a:defRPr sz="1200" b="0" i="0">
                <a:solidFill>
                  <a:srgbClr val="212B36"/>
                </a:solidFill>
                <a:latin typeface="Calibri"/>
              </a:defRPr>
            </a:pPr>
            <a:r>
              <a:t>The AI module uses supervised learning to map soil parameters to the target crop. Machine learning models analyze multi-dimensional bounds to generate recommendations.</a:t>
            </a:r>
          </a:p>
          <a:p>
            <a:pPr algn="l">
              <a:spcAft>
                <a:spcPts val="600"/>
              </a:spcAft>
              <a:defRPr sz="1200" b="1" i="0">
                <a:solidFill>
                  <a:srgbClr val="185A9D"/>
                </a:solidFill>
                <a:latin typeface="Segoe UI"/>
              </a:defRPr>
            </a:pPr>
            <a:r>
              <a:t>Core ML Classifiers Evaluated: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• Random Forest Classifier (Preferred): High accuracy, robust against outliers, and works efficiently with structured soil data.</a:t>
            </a:r>
            <a:br/>
            <a:r>
              <a:t>• Support Vector Machine (SVM): Strong margin separation bounds.</a:t>
            </a:r>
            <a:br/>
            <a:r>
              <a:t>• Gaussian Naive Bayes: Fast inference with probabilistic outputs.</a:t>
            </a:r>
            <a:br/>
            <a:r>
              <a:t>• Decision Tree: Transparent routing logic matching local farming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554480"/>
            <a:ext cx="57607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0" y="1554480"/>
            <a:ext cx="5760720" cy="109728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4846320" cy="822960"/>
          </a:xfrm>
          <a:prstGeom prst="roundRect">
            <a:avLst/>
          </a:prstGeom>
          <a:solidFill>
            <a:srgbClr val="E4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10312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22703F"/>
                </a:solidFill>
                <a:latin typeface="Segoe UI"/>
              </a:defRPr>
            </a:pPr>
            <a:r>
              <a:t>INPUT PARAMETERS</a:t>
            </a:r>
          </a:p>
          <a:p>
            <a:pPr algn="l">
              <a:defRPr sz="1100" b="1" i="0">
                <a:solidFill>
                  <a:srgbClr val="212B36"/>
                </a:solidFill>
                <a:latin typeface="Calibri"/>
              </a:defRPr>
            </a:pPr>
            <a:r>
              <a:t>pH, Moisture %, NPK Ratios, Temperature, Ambient Humidity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458200" y="2926080"/>
            <a:ext cx="182880" cy="274320"/>
          </a:xfrm>
          <a:prstGeom prst="down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3291840"/>
            <a:ext cx="4846320" cy="822960"/>
          </a:xfrm>
          <a:prstGeom prst="roundRect">
            <a:avLst/>
          </a:prstGeom>
          <a:solidFill>
            <a:srgbClr val="E4E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383280"/>
            <a:ext cx="4480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00" b="1" i="0">
                <a:solidFill>
                  <a:srgbClr val="185A9D"/>
                </a:solidFill>
                <a:latin typeface="Segoe UI"/>
              </a:defRPr>
            </a:pPr>
            <a:r>
              <a:t>RANDOM FOREST / SVM CLASSIFIER MODEL</a:t>
            </a:r>
          </a:p>
          <a:p>
            <a:pPr algn="l">
              <a:defRPr sz="1100" b="1" i="0">
                <a:solidFill>
                  <a:srgbClr val="212B36"/>
                </a:solidFill>
                <a:latin typeface="Calibri"/>
              </a:defRPr>
            </a:pPr>
            <a:r>
              <a:t>Calculates probabilistic score matrices for 22+ crop categories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458200" y="4206240"/>
            <a:ext cx="182880" cy="274320"/>
          </a:xfrm>
          <a:prstGeom prst="downArrow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4572000"/>
            <a:ext cx="484632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4572000"/>
            <a:ext cx="109728" cy="1097280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66344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200"/>
              </a:spcAft>
              <a:defRPr sz="1000" b="1" i="0">
                <a:solidFill>
                  <a:srgbClr val="22703F"/>
                </a:solidFill>
                <a:latin typeface="Segoe UI"/>
              </a:defRPr>
            </a:pPr>
            <a:r>
              <a:t>GENERATED SYSTEM OUTPUTS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1. Recommended Crop: Rice, Maize, Lentils, Cotton, etc.</a:t>
            </a:r>
            <a:br/>
            <a:r>
              <a:t>2. Fertilizer Advisory: Specific NPK ratio adjustments.</a:t>
            </a:r>
            <a:br/>
            <a:r>
              <a:t>3. Irrigation Command: Active watering schedule.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Business Model &amp; Strategic Prospects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109728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22703F"/>
                </a:solidFill>
                <a:latin typeface="Segoe UI"/>
              </a:defRPr>
            </a:pPr>
            <a:r>
              <a:t>PILLAR 1</a:t>
            </a:r>
          </a:p>
          <a:p>
            <a:pPr algn="l">
              <a:spcAft>
                <a:spcPts val="1400"/>
              </a:spcAft>
              <a:defRPr sz="1600" b="1" i="0">
                <a:solidFill>
                  <a:srgbClr val="212B36"/>
                </a:solidFill>
                <a:latin typeface="Segoe UI"/>
              </a:defRPr>
            </a:pPr>
            <a:r>
              <a:t>Smart Farming Kit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• One-Time Purchase: Sell localized, pre-calibrated ESP32 and sensor enclosures directly to commercial farms and local crop growers.</a:t>
            </a:r>
            <a:br/>
            <a:br/>
            <a:r>
              <a:t>• Plug-and-Play Setup: Users set up the device and connect to local Wi-Fi without needing technical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109728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185A9D"/>
                </a:solidFill>
                <a:latin typeface="Segoe UI"/>
              </a:defRPr>
            </a:pPr>
            <a:r>
              <a:t>PILLAR 2</a:t>
            </a:r>
          </a:p>
          <a:p>
            <a:pPr algn="l">
              <a:spcAft>
                <a:spcPts val="1400"/>
              </a:spcAft>
              <a:defRPr sz="1600" b="1" i="0">
                <a:solidFill>
                  <a:srgbClr val="212B36"/>
                </a:solidFill>
                <a:latin typeface="Segoe UI"/>
              </a:defRPr>
            </a:pPr>
            <a:r>
              <a:t>SaaS Subscription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• Tiered Subscription Model: Free basic level showing parameters. Premium level offering historical trend analysis, PDF soil health cards, and multi-device management.</a:t>
            </a:r>
            <a:br/>
            <a:br/>
            <a:r>
              <a:t>• Fertilizer API Access: Access for commercial fertilizer distributors looking to target specific regions.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109728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27432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 i="0">
                <a:solidFill>
                  <a:srgbClr val="22703F"/>
                </a:solidFill>
                <a:latin typeface="Segoe UI"/>
              </a:defRPr>
            </a:pPr>
            <a:r>
              <a:t>PILLAR 3</a:t>
            </a:r>
          </a:p>
          <a:p>
            <a:pPr algn="l">
              <a:spcAft>
                <a:spcPts val="1400"/>
              </a:spcAft>
              <a:defRPr sz="1600" b="1" i="0">
                <a:solidFill>
                  <a:srgbClr val="212B36"/>
                </a:solidFill>
                <a:latin typeface="Segoe UI"/>
              </a:defRPr>
            </a:pPr>
            <a:r>
              <a:t>NGO &amp; Government Contracts</a:t>
            </a:r>
          </a:p>
          <a:p>
            <a:pPr algn="l">
              <a:defRPr sz="1100" b="0" i="0">
                <a:solidFill>
                  <a:srgbClr val="637381"/>
                </a:solidFill>
                <a:latin typeface="Calibri"/>
              </a:defRPr>
            </a:pPr>
            <a:r>
              <a:t>• Subsidized Distribution: Collaborate with agricultural ministries and microfinance NGOs to distribute kits to rural farming cooperatives.</a:t>
            </a:r>
            <a:br/>
            <a:br/>
            <a:r>
              <a:t>• Regional Data Dashboard: Package regional soil mapping data for policy makers planning agricultural support.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Future Roadmap &amp;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10698480" cy="54864"/>
          </a:xfrm>
          <a:prstGeom prst="rect">
            <a:avLst/>
          </a:prstGeom>
          <a:solidFill>
            <a:srgbClr val="6373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3182112"/>
            <a:ext cx="274320" cy="274320"/>
          </a:xfrm>
          <a:prstGeom prst="ellipse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377440" cy="73152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212B36"/>
                </a:solidFill>
                <a:latin typeface="Segoe UI"/>
              </a:defRPr>
            </a:pPr>
            <a:r>
              <a:t>Phase 1: Weather API Integration</a:t>
            </a:r>
          </a:p>
          <a:p>
            <a:pPr algn="l">
              <a:defRPr sz="1000" b="0" i="0">
                <a:solidFill>
                  <a:srgbClr val="637381"/>
                </a:solidFill>
                <a:latin typeface="Calibri"/>
              </a:defRPr>
            </a:pPr>
            <a:r>
              <a:t>Incorporate live satellite weather forecasting (rainfall probability, frost warnings) into the recommendation loop.</a:t>
            </a:r>
          </a:p>
        </p:txBody>
      </p:sp>
      <p:sp>
        <p:nvSpPr>
          <p:cNvPr id="9" name="Oval 8"/>
          <p:cNvSpPr/>
          <p:nvPr/>
        </p:nvSpPr>
        <p:spPr>
          <a:xfrm>
            <a:off x="4572000" y="3182112"/>
            <a:ext cx="274320" cy="274320"/>
          </a:xfrm>
          <a:prstGeom prst="ellipse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74720" y="356616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3566160"/>
            <a:ext cx="2377440" cy="73152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374904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212B36"/>
                </a:solidFill>
                <a:latin typeface="Segoe UI"/>
              </a:defRPr>
            </a:pPr>
            <a:r>
              <a:t>Phase 2: Mobile App (Android/iOS)</a:t>
            </a:r>
          </a:p>
          <a:p>
            <a:pPr algn="l">
              <a:defRPr sz="1000" b="0" i="0">
                <a:solidFill>
                  <a:srgbClr val="637381"/>
                </a:solidFill>
                <a:latin typeface="Calibri"/>
              </a:defRPr>
            </a:pPr>
            <a:r>
              <a:t>Develop a native mobile application using React Native to offer push alerts, custom widget support, and offline telemetry caching.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0" y="3182112"/>
            <a:ext cx="274320" cy="274320"/>
          </a:xfrm>
          <a:prstGeom prst="ellipse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2377440" cy="73152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46304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212B36"/>
                </a:solidFill>
                <a:latin typeface="Segoe UI"/>
              </a:defRPr>
            </a:pPr>
            <a:r>
              <a:t>Phase 3: Automated Irrigation</a:t>
            </a:r>
          </a:p>
          <a:p>
            <a:pPr algn="l">
              <a:defRPr sz="1000" b="0" i="0">
                <a:solidFill>
                  <a:srgbClr val="637381"/>
                </a:solidFill>
                <a:latin typeface="Calibri"/>
              </a:defRPr>
            </a:pPr>
            <a:r>
              <a:t>Integrate a solenoid valve circuit controller connected to the ESP32. Enables automatic irrigation triggering when moisture falls below standard thresholds.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3182112"/>
            <a:ext cx="274320" cy="274320"/>
          </a:xfrm>
          <a:prstGeom prst="ellipse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0" y="3566160"/>
            <a:ext cx="2377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961120" y="3566160"/>
            <a:ext cx="2377440" cy="73152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74904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212B36"/>
                </a:solidFill>
                <a:latin typeface="Segoe UI"/>
              </a:defRPr>
            </a:pPr>
            <a:r>
              <a:t>Phase 4: NPK Optical Sensors</a:t>
            </a:r>
          </a:p>
          <a:p>
            <a:pPr algn="l">
              <a:defRPr sz="1000" b="0" i="0">
                <a:solidFill>
                  <a:srgbClr val="637381"/>
                </a:solidFill>
                <a:latin typeface="Calibri"/>
              </a:defRPr>
            </a:pPr>
            <a:r>
              <a:t>Replace current manual estimates with spectrophotometric optical sensors that measure soil nitrogen, phosphorus, and potassium levels in real time.</a:t>
            </a: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Project Development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0712"/>
                <a:gridCol w="1828800"/>
                <a:gridCol w="1828800"/>
                <a:gridCol w="1828800"/>
                <a:gridCol w="1828800"/>
              </a:tblGrid>
              <a:tr h="587828">
                <a:tc>
                  <a:txBody>
                    <a:bodyPr wrap="square" tIns="91440" bIns="91440"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Tasks / Phases</a:t>
                      </a:r>
                    </a:p>
                  </a:txBody>
                  <a:tcPr>
                    <a:solidFill>
                      <a:srgbClr val="22703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1 (Planning)</a:t>
                      </a:r>
                    </a:p>
                  </a:txBody>
                  <a:tcPr>
                    <a:solidFill>
                      <a:srgbClr val="22703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2 (HW Setup)</a:t>
                      </a:r>
                    </a:p>
                  </a:txBody>
                  <a:tcPr>
                    <a:solidFill>
                      <a:srgbClr val="22703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3 (AI &amp; Backend)</a:t>
                      </a:r>
                    </a:p>
                  </a:txBody>
                  <a:tcPr>
                    <a:solidFill>
                      <a:srgbClr val="22703F"/>
                    </a:solidFill>
                  </a:tcPr>
                </a:tc>
                <a:tc>
                  <a:txBody>
                    <a:bodyPr wrap="square" tIns="91440" bIns="91440"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Month 4 (Dashboard &amp; QA)</a:t>
                      </a:r>
                    </a:p>
                  </a:txBody>
                  <a:tcPr>
                    <a:solidFill>
                      <a:srgbClr val="22703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B36"/>
                          </a:solidFill>
                          <a:latin typeface="Segoe UI"/>
                        </a:defRPr>
                      </a:pPr>
                      <a:r>
                        <a:t>Literature Review &amp; Proposal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85A9D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B36"/>
                          </a:solidFill>
                          <a:latin typeface="Segoe UI"/>
                        </a:defRPr>
                      </a:pPr>
                      <a:r>
                        <a:t>Hardware Calibration &amp; Driver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2703F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E4F0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B36"/>
                          </a:solidFill>
                          <a:latin typeface="Segoe UI"/>
                        </a:defRPr>
                      </a:pPr>
                      <a:r>
                        <a:t>AI Model Training &amp; Dataset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85A9D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E4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85A9D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4ED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B36"/>
                          </a:solidFill>
                          <a:latin typeface="Segoe UI"/>
                        </a:defRPr>
                      </a:pPr>
                      <a:r>
                        <a:t>Cloud Server &amp; DB Schema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2703F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E4F0E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B36"/>
                          </a:solidFill>
                          <a:latin typeface="Segoe UI"/>
                        </a:defRPr>
                      </a:pPr>
                      <a:r>
                        <a:t>Web Client Dashboard &amp; Twilio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85A9D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E4ED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185A9D"/>
                          </a:solidFill>
                          <a:latin typeface="Segoe UI"/>
                        </a:defRPr>
                      </a:pPr>
                    </a:p>
                  </a:txBody>
                  <a:tcPr>
                    <a:solidFill>
                      <a:srgbClr val="E4EDF5"/>
                    </a:solidFill>
                  </a:tcPr>
                </a:tc>
              </a:tr>
              <a:tr h="587832">
                <a:tc>
                  <a:txBody>
                    <a:bodyPr wrap="square" tIns="91440" bIns="91440"/>
                    <a:lstStyle/>
                    <a:p>
                      <a:pPr>
                        <a:defRPr sz="1100" b="1">
                          <a:solidFill>
                            <a:srgbClr val="212B36"/>
                          </a:solidFill>
                          <a:latin typeface="Segoe UI"/>
                        </a:defRPr>
                      </a:pPr>
                      <a:r>
                        <a:t>System Integration, QA Testing &amp; Defense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800" b="1">
                          <a:solidFill>
                            <a:srgbClr val="22703F"/>
                          </a:solidFill>
                          <a:latin typeface="Segoe UI"/>
                        </a:defRPr>
                      </a:pPr>
                      <a:r>
                        <a:t>ACTIVE DEVELOPMENT</a:t>
                      </a:r>
                    </a:p>
                  </a:txBody>
                  <a:tcPr>
                    <a:solidFill>
                      <a:srgbClr val="E4F0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185A9D"/>
                </a:solidFill>
                <a:latin typeface="Segoe UI"/>
              </a:defRPr>
            </a:pPr>
            <a:r>
              <a:t>PROJECT PROPOSAL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22703F"/>
                </a:solidFill>
                <a:latin typeface="Segoe UI"/>
              </a:defRPr>
            </a:pPr>
            <a:r>
              <a:t>Expected Outcomes &amp; Project Impact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37160" cy="2011680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2703F"/>
                </a:solidFill>
                <a:latin typeface="Segoe UI"/>
              </a:defRPr>
            </a:pPr>
            <a:r>
              <a:t>Maximizing Agricultural Yield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By replacing guesswork with empirical, AI-recommended crop compatibility, the project expects a direct increase in harvest quality and density per acre, reducing crop failures.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554480"/>
            <a:ext cx="137160" cy="2011680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73736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85A9D"/>
                </a:solidFill>
                <a:latin typeface="Segoe UI"/>
              </a:defRPr>
            </a:pPr>
            <a:r>
              <a:t>Resource &amp; Fertilizer Optimization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By calculating the exact nutrients required for the chosen crop, farmers avoid chemical over-fertilization, preventing long-term soil acidification and reducing cost.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37160" cy="2011680"/>
          </a:xfrm>
          <a:prstGeom prst="roundRect">
            <a:avLst/>
          </a:prstGeom>
          <a:solidFill>
            <a:srgbClr val="185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185A9D"/>
                </a:solidFill>
                <a:latin typeface="Segoe UI"/>
              </a:defRPr>
            </a:pPr>
            <a:r>
              <a:t>Empirical Regional Telemetry Data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Logging telemetry continuously compiles structured geological archives of the farm, opening opportunities for academic research, soil decay studies, and predictive analytics.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137160" cy="2011680"/>
          </a:xfrm>
          <a:prstGeom prst="roundRect">
            <a:avLst/>
          </a:prstGeom>
          <a:solidFill>
            <a:srgbClr val="227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114800"/>
            <a:ext cx="45720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  <a:defRPr sz="1500" b="1" i="0">
                <a:solidFill>
                  <a:srgbClr val="22703F"/>
                </a:solidFill>
                <a:latin typeface="Segoe UI"/>
              </a:defRPr>
            </a:pPr>
            <a:r>
              <a:t>Farmer Digital Inclusivity</a:t>
            </a:r>
          </a:p>
          <a:p>
            <a:pPr algn="l">
              <a:defRPr sz="1100" b="0" i="0">
                <a:solidFill>
                  <a:srgbClr val="212B36"/>
                </a:solidFill>
                <a:latin typeface="Calibri"/>
              </a:defRPr>
            </a:pPr>
            <a:r>
              <a:t>The bilingual interface, clear color-coded dials, and automatic SMS notification system break down technology barriers, bringing modern IoT power to traditional farming.</a:t>
            </a: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70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0" y="731520"/>
            <a:ext cx="5212080" cy="5394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hank_you_visual_1780668816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822960"/>
            <a:ext cx="502920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  <a:p>
            <a:pPr>
              <a:spcAft>
                <a:spcPts val="3000"/>
              </a:spcAft>
              <a:defRPr sz="2200" b="1">
                <a:solidFill>
                  <a:srgbClr val="E4F0E6"/>
                </a:solidFill>
                <a:latin typeface="Segoe UI"/>
              </a:defRPr>
            </a:pPr>
            <a:r>
              <a:t>Questions &amp; Answers</a:t>
            </a:r>
          </a:p>
          <a:p>
            <a:pPr>
              <a:spcAft>
                <a:spcPts val="15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IoT-Based Smart Soil Analysis and AI-Powered Crop Recommendation System</a:t>
            </a:r>
          </a:p>
          <a:p>
            <a:pPr>
              <a:spcAft>
                <a:spcPts val="1500"/>
              </a:spcAft>
              <a:defRPr sz="1300">
                <a:solidFill>
                  <a:srgbClr val="F5F7F8"/>
                </a:solidFill>
                <a:latin typeface="Calibri"/>
              </a:defRPr>
            </a:pPr>
            <a:r>
              <a:t>Students:</a:t>
            </a:r>
            <a:br/>
            <a:r>
              <a:t>• Jeba Takia (210104)</a:t>
            </a:r>
            <a:br/>
            <a:r>
              <a:t>• MD Mushfiqur Rahman Mahim (210131)</a:t>
            </a:r>
          </a:p>
          <a:p>
            <a:pPr>
              <a:defRPr sz="1200">
                <a:solidFill>
                  <a:srgbClr val="F5F7F8"/>
                </a:solidFill>
                <a:latin typeface="Calibri"/>
              </a:defRPr>
            </a:pPr>
            <a:r>
              <a:t>Department of Computer Science and Engineering</a:t>
            </a:r>
            <a:br/>
            <a:r>
              <a:t>Daffodil Institute of IT</a:t>
            </a:r>
            <a:br/>
            <a:r>
              <a:t>Session 2020-21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