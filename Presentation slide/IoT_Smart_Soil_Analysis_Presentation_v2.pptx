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486400" cy="53949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9728" cy="53949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47548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100" b="1" i="0">
                <a:solidFill>
                  <a:srgbClr val="0D47A1"/>
                </a:solidFill>
                <a:latin typeface="Segoe UI"/>
              </a:defRPr>
            </a:pPr>
            <a:r>
              <a:t>FINAL YEAR CSE PROJECT PROPOSAL</a:t>
            </a:r>
          </a:p>
          <a:p>
            <a:pPr algn="l">
              <a:spcAft>
                <a:spcPts val="2500"/>
              </a:spcAft>
              <a:defRPr sz="2800" b="1" i="0">
                <a:solidFill>
                  <a:srgbClr val="1B5E20"/>
                </a:solidFill>
                <a:latin typeface="Segoe UI"/>
              </a:defRPr>
            </a:pPr>
            <a:r>
              <a:t>IoT-Based Smart Soil</a:t>
            </a:r>
            <a:br/>
            <a:r>
              <a:t>Analysis and AI-Powered</a:t>
            </a:r>
            <a:br/>
            <a:r>
              <a:t>Crop Recommendation</a:t>
            </a:r>
            <a:br/>
            <a:r>
              <a:t>System</a:t>
            </a:r>
          </a:p>
          <a:p>
            <a:pPr algn="l">
              <a:spcAft>
                <a:spcPts val="400"/>
              </a:spcAft>
              <a:defRPr sz="1000" b="1" i="0">
                <a:solidFill>
                  <a:srgbClr val="757575"/>
                </a:solidFill>
                <a:latin typeface="Segoe UI"/>
              </a:defRPr>
            </a:pPr>
            <a:r>
              <a:t>STUDENTS:</a:t>
            </a:r>
          </a:p>
          <a:p>
            <a:pPr algn="l">
              <a:spcAft>
                <a:spcPts val="2000"/>
              </a:spcAft>
              <a:defRPr sz="1300" b="1" i="0">
                <a:solidFill>
                  <a:srgbClr val="212121"/>
                </a:solidFill>
                <a:latin typeface="Calibri"/>
              </a:defRPr>
            </a:pPr>
            <a:r>
              <a:t>▪ Jeba Takia (210104)</a:t>
            </a:r>
            <a:br/>
            <a:r>
              <a:t>▪ MD Mushfiqur Rahman Mahim (210131)</a:t>
            </a:r>
          </a:p>
          <a:p>
            <a:pPr algn="l">
              <a:spcAft>
                <a:spcPts val="400"/>
              </a:spcAft>
              <a:defRPr sz="1000" b="1" i="0">
                <a:solidFill>
                  <a:srgbClr val="757575"/>
                </a:solidFill>
                <a:latin typeface="Segoe UI"/>
              </a:defRPr>
            </a:pPr>
            <a:r>
              <a:t>INSTITUTION: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Department of Computer Science and Engineering</a:t>
            </a:r>
            <a:br/>
            <a:r>
              <a:t>Daffodil Institute of IT</a:t>
            </a:r>
            <a:br/>
            <a:r>
              <a:t>Session: 2020-21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731520"/>
            <a:ext cx="4937760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itle_slide_visual_1780668788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4754880" cy="47548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Introduction to Smart Agriculture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1B5E20"/>
                </a:solidFill>
                <a:latin typeface="Segoe UI"/>
              </a:defRPr>
            </a:pPr>
            <a:r>
              <a:t>The Paradigm Shift</a:t>
            </a:r>
          </a:p>
          <a:p>
            <a:pPr algn="l">
              <a:spcAft>
                <a:spcPts val="1400"/>
              </a:spcAft>
              <a:defRPr sz="1300" b="0" i="0">
                <a:solidFill>
                  <a:srgbClr val="212121"/>
                </a:solidFill>
                <a:latin typeface="Calibri"/>
              </a:defRPr>
            </a:pPr>
            <a:r>
              <a:t>Smart agriculture integrates digital technologies, real-time sensing, and analytical modeling to automate and optimize farming practices. As global food demand rises, farming must evolve from a reactive industry to a predictive, data-driven science.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0D47A1"/>
                </a:solidFill>
                <a:latin typeface="Segoe UI"/>
              </a:defRPr>
            </a:pPr>
            <a:r>
              <a:t>Key Technology Pillars: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▪ IoT Sensors: Continuous field telemetry (pH, Moisture, Temp).</a:t>
            </a:r>
            <a:br/>
            <a:r>
              <a:t>▪ Machine Learning: Smart predictive algorithms for cropping.</a:t>
            </a:r>
            <a:br/>
            <a:r>
              <a:t>▪ Cloud Integration: Centralized telemetry archives and API access.</a:t>
            </a:r>
            <a:br/>
            <a:r>
              <a:t>▪ Automation: Precision resource distribution (smart irrigation).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463040"/>
            <a:ext cx="5120640" cy="45720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463040"/>
            <a:ext cx="5120640" cy="10972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82880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0D47A1"/>
                </a:solidFill>
                <a:latin typeface="Segoe UI"/>
              </a:defRPr>
            </a:pPr>
            <a:r>
              <a:t>Traditional Farming Bottlenecks</a:t>
            </a:r>
          </a:p>
          <a:p>
            <a:pPr algn="l">
              <a:spcAft>
                <a:spcPts val="1400"/>
              </a:spcAft>
              <a:defRPr sz="1300" b="0" i="0">
                <a:solidFill>
                  <a:srgbClr val="212121"/>
                </a:solidFill>
                <a:latin typeface="Calibri"/>
              </a:defRPr>
            </a:pPr>
            <a:r>
              <a:t>Conventional farming practices in developing regions heavily depend on historical guesswork, visual cues, and generic seasonal patterns, leading to sub-optimal resource usage and crop failure.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1B5E20"/>
                </a:solidFill>
                <a:latin typeface="Segoe UI"/>
              </a:defRPr>
            </a:pPr>
            <a:r>
              <a:t>Critical Challenges Faced: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▪ Soil Nutrient Ignorance: Farming without knowing pH or moisture levels.</a:t>
            </a:r>
            <a:br/>
            <a:r>
              <a:t>▪ Resource Wastage: Over-watering or excessive use of chemical fertilizers.</a:t>
            </a:r>
            <a:br/>
            <a:r>
              <a:t>▪ Economic Risk: High crop failure rates due to mismatched soil compatibility.</a:t>
            </a:r>
            <a:br/>
            <a:r>
              <a:t>▪ Unpredictable Climate: Lack of adaptivity to shifting local weather.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02 / 15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1B5E20"/>
                </a:solidFill>
                <a:latin typeface="Segoe UI"/>
              </a:defRPr>
            </a:pPr>
            <a:r>
              <a:t>01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Guesswork Cultivation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Farmers often grow traditional crops year after year without validating if the soil has degraded. This lack of crop-to-soil compatibility testing directly leads to low yield rates and agricultural economic strain.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1645920"/>
            <a:ext cx="3291840" cy="10972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0D47A1"/>
                </a:solidFill>
                <a:latin typeface="Segoe UI"/>
              </a:defRPr>
            </a:pPr>
            <a:r>
              <a:t>02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No Soil Telemetry Info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Soil properties fluctuate dynamically due to watering, fertilization, and climate. Lab-based soil testing takes weeks and is expensive, leaving farmers with no access to real-time, actionable chemical and moisture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645920"/>
            <a:ext cx="3291840" cy="4389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8" y="1645920"/>
            <a:ext cx="32918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1B5E20"/>
                </a:solidFill>
                <a:latin typeface="Segoe UI"/>
              </a:defRPr>
            </a:pPr>
            <a:r>
              <a:t>03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Technology Adoption Gap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While advanced agricultural sensors and AI technologies exist, they are isolated from local farmers. There is a critical shortage of low-cost, integrated hardware and simple bilingual mobile-friendly dashboard systems.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03 / 15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B5E20"/>
                </a:solidFill>
                <a:latin typeface="Segoe UI"/>
              </a:defRPr>
            </a:pPr>
            <a:r>
              <a:t>01. Real-Time Soil Monitoring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Deploy low-cost, high-precision IoT sensors to continuously capture critical soil parameters: pH, moisture content, and ambient temperature/humidity.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73736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0D47A1"/>
                </a:solidFill>
                <a:latin typeface="Segoe UI"/>
              </a:defRPr>
            </a:pPr>
            <a:r>
              <a:t>02. Cloud Database &amp; Telemetry Logs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Establish a secure, lightweight cloud database to log all real-time field readings, forming a historical timeline for analysis and system auditing.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0D47A1"/>
                </a:solidFill>
                <a:latin typeface="Segoe UI"/>
              </a:defRPr>
            </a:pPr>
            <a:r>
              <a:t>03. AI-Powered Crop Recommendation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Design and train an ML classifier (Random Forest/SVM) that processes real-time sensor parameters to recommend the most suitable crop and required fertilizers.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931920"/>
            <a:ext cx="51206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393192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411480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B5E20"/>
                </a:solidFill>
                <a:latin typeface="Segoe UI"/>
              </a:defRPr>
            </a:pPr>
            <a:r>
              <a:t>04. Web Dashboard Visualization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Develop an accessible web interface with real-time graphs, simple health scores, bilingual translation, and automated SMS alerts for soil degradation.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04 / 15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1">
                <a:solidFill>
                  <a:srgbClr val="757575"/>
                </a:solidFill>
                <a:latin typeface="Calibri"/>
              </a:defRPr>
            </a:pPr>
            <a:r>
              <a:t>The data starts at the sensors, is processed by ESP32, uploaded to the cloud database, analyzed by AI, and served to the farmer 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01. 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pH Sensor</a:t>
            </a:r>
            <a:br/>
            <a:r>
              <a:t>Soil Moisture</a:t>
            </a:r>
            <a:br/>
            <a:r>
              <a:t>DHT22 Temp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3154680"/>
            <a:ext cx="36576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2286000"/>
            <a:ext cx="164592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02.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ESP32 MCU</a:t>
            </a:r>
            <a:br/>
            <a:r>
              <a:t>Analog ADC</a:t>
            </a:r>
            <a:br/>
            <a:r>
              <a:t>Wi-Fi Upload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63440" y="3154680"/>
            <a:ext cx="36576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286000"/>
            <a:ext cx="164592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03. CLOUD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MySQL / Postgre</a:t>
            </a:r>
            <a:br/>
            <a:r>
              <a:t>Secure API</a:t>
            </a:r>
            <a:br/>
            <a:r>
              <a:t>JSON Logging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58000" y="3154680"/>
            <a:ext cx="36576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2286000"/>
            <a:ext cx="164592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04. 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Python ML API</a:t>
            </a:r>
            <a:br/>
            <a:r>
              <a:t>Random Forest</a:t>
            </a:r>
            <a:br/>
            <a:r>
              <a:t>Inference Model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60" y="3154680"/>
            <a:ext cx="365760" cy="27432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0976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286000"/>
            <a:ext cx="164592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05.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HTML/CSS/JS</a:t>
            </a:r>
            <a:br/>
            <a:r>
              <a:t>Real-time Alerts</a:t>
            </a:r>
            <a:br/>
            <a:r>
              <a:t>Visual 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0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029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0D47A1"/>
                </a:solidFill>
                <a:latin typeface="Segoe UI"/>
              </a:defRPr>
            </a:pPr>
            <a:r>
              <a:t>Data Flow Summary: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1. Soil values are captured analogously. 2. ESP32 digitizes and transmits via Wi-Fi (HTTP POST/MQTT). 3. Cloud server stores data points in a secure DB. 4. Flask API triggers inference. 5. Recommendations and real-time parameters update on the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05 / 15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Hardware Architecture &amp;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B5E20"/>
                </a:solidFill>
                <a:latin typeface="Segoe UI"/>
              </a:defRPr>
            </a:pPr>
            <a:r>
              <a:t>ESP32 NodeMCU Microcontroller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Core: Dual-core Tensilica LX6 32-bit MCU with integrated Wi-Fi and Bluetooth.</a:t>
            </a:r>
            <a:br/>
            <a:r>
              <a:t>▪ Pinouts: Multi-channel 12-bit ADC for sensor calibration and digital GPIOs.</a:t>
            </a:r>
            <a:br/>
            <a:r>
              <a:t>▪ Purpose: Acts as the central node for sensor calibration, signal digitizing, and HTTP data transmission.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463040"/>
            <a:ext cx="51206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46304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645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D47A1"/>
                </a:solidFill>
                <a:latin typeface="Segoe UI"/>
              </a:defRPr>
            </a:pPr>
            <a:r>
              <a:t>Capacitive Soil Moisture Sensor (v1.2)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Tech: Capacitive measurements prevent probe oxidation and corrosion.</a:t>
            </a:r>
            <a:br/>
            <a:r>
              <a:t>▪ Principle: Measures dielectric permittivity of surrounding soil to estimate water content percentage.</a:t>
            </a:r>
            <a:br/>
            <a:r>
              <a:t>▪ Purpose: Signals irrigation frequency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D47A1"/>
                </a:solidFill>
                <a:latin typeface="Segoe UI"/>
              </a:defRPr>
            </a:pPr>
            <a:r>
              <a:t>Soil pH Sensor Probe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Tech: High-precision glass electrode analog probe with signal amplifier.</a:t>
            </a:r>
            <a:br/>
            <a:r>
              <a:t>▪ Output: 0-5V analog signal proportional to hydrogen-ion activity (pH scale 0-14).</a:t>
            </a:r>
            <a:br/>
            <a:r>
              <a:t>▪ Purpose: Key driver for crop suitability and fertilizer recommendation.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840480"/>
            <a:ext cx="51206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384048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402336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B5E20"/>
                </a:solidFill>
                <a:latin typeface="Segoe UI"/>
              </a:defRPr>
            </a:pPr>
            <a:r>
              <a:t>DHT22 Temperature &amp; Humidity Sensor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Specs: Temperature range -40 to 80°C (+-0.5°C); Humidity range 0-100% (+-2% RH).</a:t>
            </a:r>
            <a:br/>
            <a:r>
              <a:t>▪ Digital: Single-bus interface delivers digitized environmental parameters.</a:t>
            </a:r>
            <a:br/>
            <a:r>
              <a:t>▪ Purpose: Analyzes microclimate to determine transpiration index.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06 / 15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Software Environment &amp; Core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800" b="1" i="0">
                <a:solidFill>
                  <a:srgbClr val="1B5E20"/>
                </a:solidFill>
                <a:latin typeface="Segoe UI"/>
              </a:defRPr>
            </a:pPr>
            <a:r>
              <a:t>Firmware &amp; Backend Pipeline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▪ Arduino IDE (C/C++): Program ESP32 for analog calibration, digital filtering, Wi-Fi reconnection logic, and REST API transmission.</a:t>
            </a:r>
            <a:br/>
            <a:br/>
            <a:r>
              <a:t>▪ Python Flask / Node.js API: Lightweight backend server. Handles incoming JSON sensor payloads, routes requests, and exposes REST endpoints for the client dashboard.</a:t>
            </a:r>
            <a:br/>
            <a:br/>
            <a:r>
              <a:t>▪ MySQL / PostgreSQL Database: Relational structure with tables storing client profile details, ESP32 device keys, logged soil data points, and recommendations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45720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5120640" cy="10972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800" b="1" i="0">
                <a:solidFill>
                  <a:srgbClr val="0D47A1"/>
                </a:solidFill>
                <a:latin typeface="Segoe UI"/>
              </a:defRPr>
            </a:pPr>
            <a:r>
              <a:t>Visualization &amp; ML Pipeline</a:t>
            </a:r>
          </a:p>
          <a:p>
            <a:pPr algn="l">
              <a:defRPr sz="1200" b="0" i="0">
                <a:solidFill>
                  <a:srgbClr val="212121"/>
                </a:solidFill>
                <a:latin typeface="Calibri"/>
              </a:defRPr>
            </a:pPr>
            <a:r>
              <a:t>▪ HTML5, CSS3, JavaScript (ES6+): Responsive front-end built using CSS grid, flexbox, and Chart.js for real-time visualization graphs.</a:t>
            </a:r>
            <a:br/>
            <a:br/>
            <a:r>
              <a:t>▪ Machine Learning Suite (Scikit-Learn, Pandas, Numpy): Used to clean agricultural soil datasets, perform feature scaling, train classifiers, and serialize the model for Flask integration.</a:t>
            </a:r>
            <a:br/>
            <a:br/>
            <a:r>
              <a:t>▪ Twilio / SMS API Gateway: Integrates custom notification loops to automatically push critical SMS alerts to registered farmers during extreme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07 / 15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System Workflow &amp; Process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B5E20"/>
                </a:solidFill>
                <a:latin typeface="Segoe UI"/>
              </a:defRPr>
            </a:pPr>
            <a:r>
              <a:t>Step 1: Data Sensing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Sensors sample pH, moisture, and temperature ambient levels continuously. Analog values are filtered to remove background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1645920"/>
            <a:ext cx="3291840" cy="20116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D47A1"/>
                </a:solidFill>
                <a:latin typeface="Segoe UI"/>
              </a:defRPr>
            </a:pPr>
            <a:r>
              <a:t>Step 2: Transmission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ESP32 bundles sensor readings into a JSON payload and transmits it securely via HTTP POST request to the cloud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1645920"/>
            <a:ext cx="3291840" cy="201168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B5E20"/>
                </a:solidFill>
                <a:latin typeface="Segoe UI"/>
              </a:defRPr>
            </a:pPr>
            <a:r>
              <a:t>Step 3: Cloud Logging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The Flask server parses the request, validates the device token, and logs the telemetry with timestamps into the SQL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D47A1"/>
                </a:solidFill>
                <a:latin typeface="Segoe UI"/>
              </a:defRPr>
            </a:pPr>
            <a:r>
              <a:t>Step 4: AI Model Inference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The server triggers the ML inference engine. The pre-trained classifier matches soil parameters against crop compatibility arrays.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4023360"/>
            <a:ext cx="3291840" cy="201168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B5E20"/>
                </a:solidFill>
                <a:latin typeface="Segoe UI"/>
              </a:defRPr>
            </a:pPr>
            <a:r>
              <a:t>Step 5: Recommendation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AI outputs the optimal crop type along with specific fertilizer ratios. Warnings are triggered if severe anomalies are detected.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023360"/>
            <a:ext cx="3291840" cy="20116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0D47A1"/>
                </a:solidFill>
                <a:latin typeface="Segoe UI"/>
              </a:defRPr>
            </a:pPr>
            <a:r>
              <a:t>Step 6: Dashboard Update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The Web Dashboard pulls fresh logs via AJAX/WebSockets. Charts re-render, and crop advisory reports update instantly.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14800" y="2514600"/>
            <a:ext cx="237744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27264" y="2514600"/>
            <a:ext cx="237744" cy="18288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9710928" y="3749039"/>
            <a:ext cx="182880" cy="22860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7827264" y="4892040"/>
            <a:ext cx="237744" cy="182880"/>
          </a:xfrm>
          <a:prstGeom prst="lef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4114800" y="4892040"/>
            <a:ext cx="237744" cy="182880"/>
          </a:xfrm>
          <a:prstGeom prst="lef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08 / 15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Key Features &amp; Platform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Real-time Telemetry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Provides continuous logging of essential soil chemistry and ambient readings with graphical curves.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554480"/>
            <a:ext cx="32918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155448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AI Recommendation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Utilizes classification algorithms matching multi-parameter inputs against crops with high precision.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554480"/>
            <a:ext cx="32918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8" y="155448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Fertilizer Optimizer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Calculates required NPK adjustments based on the difference between present soil and crop ideals.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Irrigation Advisory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Automated alert recommendations for watering based on current moisture content and air humidity profiles.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3931920"/>
            <a:ext cx="3291840" cy="2103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3984" y="3931920"/>
            <a:ext cx="109728" cy="210312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Soil Health Scoring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Aggregates pH variance, water logging, and moisture trends into a unified, clean Health Score (1-100).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3931920"/>
            <a:ext cx="3291840" cy="2103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3931920"/>
            <a:ext cx="109728" cy="21031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121"/>
                </a:solidFill>
                <a:latin typeface="Segoe UI"/>
              </a:defRPr>
            </a:pPr>
            <a:r>
              <a:t>Bilingual Dashboard</a:t>
            </a:r>
          </a:p>
          <a:p>
            <a:pPr algn="l">
              <a:defRPr sz="1100" b="0" i="0">
                <a:solidFill>
                  <a:srgbClr val="757575"/>
                </a:solidFill>
                <a:latin typeface="Calibri"/>
              </a:defRPr>
            </a:pPr>
            <a:r>
              <a:t>Features toggleable English &amp; Bangla views and mobile layout optimization for rural farmers.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09 / 15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AI Crop Recommendation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800" b="1" i="0">
                <a:solidFill>
                  <a:srgbClr val="1B5E20"/>
                </a:solidFill>
                <a:latin typeface="Segoe UI"/>
              </a:defRPr>
            </a:pPr>
            <a:r>
              <a:t>Decision Logic &amp; Classifiers</a:t>
            </a:r>
          </a:p>
          <a:p>
            <a:pPr algn="l">
              <a:spcAft>
                <a:spcPts val="1400"/>
              </a:spcAft>
              <a:defRPr sz="1250" b="0" i="0">
                <a:solidFill>
                  <a:srgbClr val="212121"/>
                </a:solidFill>
                <a:latin typeface="Calibri"/>
              </a:defRPr>
            </a:pPr>
            <a:r>
              <a:t>The AI module uses supervised learning to map soil parameters to the target crop. Machine learning models analyze multi-dimensional bounds to generate recommendations.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0D47A1"/>
                </a:solidFill>
                <a:latin typeface="Segoe UI"/>
              </a:defRPr>
            </a:pPr>
            <a:r>
              <a:t>Core ML Classifiers Evaluated:</a:t>
            </a:r>
          </a:p>
          <a:p>
            <a:pPr algn="l">
              <a:defRPr sz="1150" b="0" i="0">
                <a:solidFill>
                  <a:srgbClr val="212121"/>
                </a:solidFill>
                <a:latin typeface="Calibri"/>
              </a:defRPr>
            </a:pPr>
            <a:r>
              <a:t>▪ Random Forest Classifier: High accuracy, robust against outliers, and works efficiently with structured soil data.</a:t>
            </a:r>
            <a:br/>
            <a:r>
              <a:t>▪ Support Vector Machine (SVM): Strong margin separation bounds.</a:t>
            </a:r>
            <a:br/>
            <a:r>
              <a:t>▪ Gaussian Naive Bayes: Fast inference with probabilistic outputs.</a:t>
            </a:r>
            <a:br/>
            <a:r>
              <a:t>▪ Decision Tree: Transparent routing logic matching local farming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45720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5120640" cy="10972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02552" y="2011680"/>
            <a:ext cx="4389120" cy="82296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21031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1B5E20"/>
                </a:solidFill>
                <a:latin typeface="Segoe UI"/>
              </a:defRPr>
            </a:pPr>
            <a:r>
              <a:t>INPUT PARAMETERS</a:t>
            </a:r>
          </a:p>
          <a:p>
            <a:pPr algn="l">
              <a:defRPr sz="1100" b="1" i="0">
                <a:solidFill>
                  <a:srgbClr val="212121"/>
                </a:solidFill>
                <a:latin typeface="Calibri"/>
              </a:defRPr>
            </a:pPr>
            <a:r>
              <a:t>pH, Moisture %, NPK Ratios, Temperature, Humidity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805672" y="2926080"/>
            <a:ext cx="182880" cy="27432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02552" y="3291840"/>
            <a:ext cx="4389120" cy="82296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338328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0D47A1"/>
                </a:solidFill>
                <a:latin typeface="Segoe UI"/>
              </a:defRPr>
            </a:pPr>
            <a:r>
              <a:t>RANDOM FOREST / SVM CLASSIFIER MODEL</a:t>
            </a:r>
          </a:p>
          <a:p>
            <a:pPr algn="l">
              <a:defRPr sz="1100" b="1" i="0">
                <a:solidFill>
                  <a:srgbClr val="212121"/>
                </a:solidFill>
                <a:latin typeface="Calibri"/>
              </a:defRPr>
            </a:pPr>
            <a:r>
              <a:t>Calculates probabilistic score matrices for 22+ crop categories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805672" y="4206240"/>
            <a:ext cx="182880" cy="274320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02552" y="4572000"/>
            <a:ext cx="43891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2" y="4572000"/>
            <a:ext cx="109728" cy="10972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466344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950" b="1" i="0">
                <a:solidFill>
                  <a:srgbClr val="1B5E20"/>
                </a:solidFill>
                <a:latin typeface="Segoe UI"/>
              </a:defRPr>
            </a:pPr>
            <a:r>
              <a:t>GENERATED SYSTEM OUTPUTS</a:t>
            </a:r>
          </a:p>
          <a:p>
            <a:pPr algn="l">
              <a:defRPr sz="1050" b="0" i="0">
                <a:solidFill>
                  <a:srgbClr val="212121"/>
                </a:solidFill>
                <a:latin typeface="Calibri"/>
              </a:defRPr>
            </a:pPr>
            <a:r>
              <a:t>1. Recommended Crop: Rice, Maize, Lentils, Cotton, etc.</a:t>
            </a:r>
            <a:br/>
            <a:r>
              <a:t>2. Fertilizer Advisory: Specific NPK ratio adjustments.</a:t>
            </a:r>
            <a:br/>
            <a:r>
              <a:t>3. Irrigation Command: Active watering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10 / 15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Business Model &amp; Strategic Prospects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1B5E20"/>
                </a:solidFill>
                <a:latin typeface="Segoe UI"/>
              </a:defRPr>
            </a:pPr>
            <a:r>
              <a:t>PILLAR 1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Smart Farming Kit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One-Time Purchase: Sell localized, pre-calibrated ESP32 and sensor enclosures directly to commercial farms and local crop growers.</a:t>
            </a:r>
            <a:br/>
            <a:br/>
            <a:r>
              <a:t>▪ Plug-and-Play Setup: Users set up the device and connect to local Wi-Fi without needing technical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43984" y="1645920"/>
            <a:ext cx="3291840" cy="109728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8304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0D47A1"/>
                </a:solidFill>
                <a:latin typeface="Segoe UI"/>
              </a:defRPr>
            </a:pPr>
            <a:r>
              <a:t>PILLAR 2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SaaS Subscription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Tiered Subscription Model: Free basic level showing parameters. Premium level offering historical trend analysis, PDF soil health cards, and multi-device management.</a:t>
            </a:r>
            <a:br/>
            <a:br/>
            <a:r>
              <a:t>▪ Fertilizer API Access: Access for commercial fertilizer distributors looking to target specific regions.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1645920"/>
            <a:ext cx="3291840" cy="438912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56448" y="1645920"/>
            <a:ext cx="3291840" cy="109728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1B5E20"/>
                </a:solidFill>
                <a:latin typeface="Segoe UI"/>
              </a:defRPr>
            </a:pPr>
            <a:r>
              <a:t>PILLAR 3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121"/>
                </a:solidFill>
                <a:latin typeface="Segoe UI"/>
              </a:defRPr>
            </a:pPr>
            <a:r>
              <a:t>NGO &amp; Government Contracts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▪ Subsidized Distribution: Collaborate with agricultural ministries and microfinance NGOs to distribute kits to rural farming cooperatives.</a:t>
            </a:r>
            <a:br/>
            <a:br/>
            <a:r>
              <a:t>▪ Regional Data Dashboard: Package regional soil mapping data for policy makers planning agricultural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11 / 15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Future Roadmap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10725912" cy="54864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83080" y="3182112"/>
            <a:ext cx="274320" cy="27432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377440" cy="182880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377440" cy="7315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50" b="1" i="0">
                <a:solidFill>
                  <a:srgbClr val="212121"/>
                </a:solidFill>
                <a:latin typeface="Segoe UI"/>
              </a:defRPr>
            </a:pPr>
            <a:r>
              <a:t>Phase 1: Weather API</a:t>
            </a:r>
          </a:p>
          <a:p>
            <a:pPr algn="l">
              <a:defRPr sz="1000" b="0" i="0">
                <a:solidFill>
                  <a:srgbClr val="212121"/>
                </a:solidFill>
                <a:latin typeface="Calibri"/>
              </a:defRPr>
            </a:pPr>
            <a:r>
              <a:t>Incorporate live satellite weather forecasting (rainfall probability, frost warnings) into recommendation loop.</a:t>
            </a:r>
          </a:p>
        </p:txBody>
      </p:sp>
      <p:sp>
        <p:nvSpPr>
          <p:cNvPr id="10" name="Oval 9"/>
          <p:cNvSpPr/>
          <p:nvPr/>
        </p:nvSpPr>
        <p:spPr>
          <a:xfrm>
            <a:off x="4562856" y="3182112"/>
            <a:ext cx="274320" cy="27432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1296" y="3566160"/>
            <a:ext cx="2377440" cy="18288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1296" y="3566160"/>
            <a:ext cx="2377440" cy="73152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4176" y="37490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50" b="1" i="0">
                <a:solidFill>
                  <a:srgbClr val="212121"/>
                </a:solidFill>
                <a:latin typeface="Segoe UI"/>
              </a:defRPr>
            </a:pPr>
            <a:r>
              <a:t>Phase 2: Mobile App</a:t>
            </a:r>
          </a:p>
          <a:p>
            <a:pPr algn="l">
              <a:defRPr sz="1000" b="0" i="0">
                <a:solidFill>
                  <a:srgbClr val="212121"/>
                </a:solidFill>
                <a:latin typeface="Calibri"/>
              </a:defRPr>
            </a:pPr>
            <a:r>
              <a:t>Develop a native mobile application using React Native to offer push alerts and offline telemetry caching.</a:t>
            </a:r>
          </a:p>
        </p:txBody>
      </p:sp>
      <p:sp>
        <p:nvSpPr>
          <p:cNvPr id="14" name="Oval 13"/>
          <p:cNvSpPr/>
          <p:nvPr/>
        </p:nvSpPr>
        <p:spPr>
          <a:xfrm>
            <a:off x="7342631" y="3182112"/>
            <a:ext cx="274320" cy="27432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280160"/>
            <a:ext cx="2377440" cy="182880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91072" y="1280160"/>
            <a:ext cx="2377440" cy="73152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4630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50" b="1" i="0">
                <a:solidFill>
                  <a:srgbClr val="212121"/>
                </a:solidFill>
                <a:latin typeface="Segoe UI"/>
              </a:defRPr>
            </a:pPr>
            <a:r>
              <a:t>Phase 3: Smart Irrigation</a:t>
            </a:r>
          </a:p>
          <a:p>
            <a:pPr algn="l">
              <a:defRPr sz="1000" b="0" i="0">
                <a:solidFill>
                  <a:srgbClr val="212121"/>
                </a:solidFill>
                <a:latin typeface="Calibri"/>
              </a:defRPr>
            </a:pPr>
            <a:r>
              <a:t>Integrate a solenoid valve circuit controller to enable automatic irrigation when moisture falls below thresholds.</a:t>
            </a:r>
          </a:p>
        </p:txBody>
      </p:sp>
      <p:sp>
        <p:nvSpPr>
          <p:cNvPr id="18" name="Oval 17"/>
          <p:cNvSpPr/>
          <p:nvPr/>
        </p:nvSpPr>
        <p:spPr>
          <a:xfrm>
            <a:off x="10122408" y="3182112"/>
            <a:ext cx="274320" cy="27432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70848" y="3566160"/>
            <a:ext cx="2377440" cy="182880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0848" y="3566160"/>
            <a:ext cx="2377440" cy="73152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37490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50" b="1" i="0">
                <a:solidFill>
                  <a:srgbClr val="212121"/>
                </a:solidFill>
                <a:latin typeface="Segoe UI"/>
              </a:defRPr>
            </a:pPr>
            <a:r>
              <a:t>Phase 4: NPK Sensors</a:t>
            </a:r>
          </a:p>
          <a:p>
            <a:pPr algn="l">
              <a:defRPr sz="1000" b="0" i="0">
                <a:solidFill>
                  <a:srgbClr val="212121"/>
                </a:solidFill>
                <a:latin typeface="Calibri"/>
              </a:defRPr>
            </a:pPr>
            <a:r>
              <a:t>Replace manual estimates with spectrophotometric optical sensors that measure soil NPK levels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12 / 15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Project Development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0712"/>
                <a:gridCol w="1828800"/>
                <a:gridCol w="1828800"/>
                <a:gridCol w="1828800"/>
                <a:gridCol w="1828800"/>
              </a:tblGrid>
              <a:tr h="587828">
                <a:tc>
                  <a:txBody>
                    <a:bodyPr wrap="square" tIns="91440" bIns="9144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Tasks / Phases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1 (Planning)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2 (HW Setup)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3 (AI &amp; Backend)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4 (Dashboard &amp; QA)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Literature Review &amp; 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0D47A1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Hardware Calibration &amp; Driver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B5E20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AI Model Training &amp; Dataset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0D47A1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0D47A1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Cloud Server &amp; DB Schema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B5E20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Web Client Dashboard &amp; Twilio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0D47A1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BBDE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0D47A1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BBDEFB"/>
                    </a:solidFill>
                  </a:tcPr>
                </a:tc>
              </a:tr>
              <a:tr h="587832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121"/>
                          </a:solidFill>
                          <a:latin typeface="Segoe UI"/>
                        </a:defRPr>
                      </a:pPr>
                      <a:r>
                        <a:t>System Integration, QA Testing &amp;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50" b="1">
                          <a:solidFill>
                            <a:srgbClr val="1B5E20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13 / 15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D47A1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5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1B5E20"/>
                </a:solidFill>
                <a:latin typeface="Segoe UI"/>
              </a:defRPr>
            </a:pPr>
            <a:r>
              <a:t>Expected Outcomes &amp; Project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25912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9728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B5E20"/>
                </a:solidFill>
                <a:latin typeface="Segoe UI"/>
              </a:defRPr>
            </a:pPr>
            <a:r>
              <a:t>Maximizing Agricultural Yield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By replacing guesswork with empirical, AI-recommended crop compatibility, the project expects a direct increase in harvest quality and density per acre, reducing crop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554480"/>
            <a:ext cx="5120640" cy="20116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36792" y="1554480"/>
            <a:ext cx="109728" cy="20116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73736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D47A1"/>
                </a:solidFill>
                <a:latin typeface="Segoe UI"/>
              </a:defRPr>
            </a:pPr>
            <a:r>
              <a:t>Resource &amp; Fertilizer Optimization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By calculating the exact nutrients required for the chosen crop, farmers avoid chemical over-fertilization, preventing long-term soil acidification and reducing cost.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0F6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9728" cy="20116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0D47A1"/>
                </a:solidFill>
                <a:latin typeface="Segoe UI"/>
              </a:defRPr>
            </a:pPr>
            <a:r>
              <a:t>Empirical Regional Telemetry Data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Logging telemetry continuously compiles structured geological archives of the farm, opening opportunities for academic research, soil decay studies, and predictive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3931920"/>
            <a:ext cx="5120640" cy="2011680"/>
          </a:xfrm>
          <a:prstGeom prst="roundRect">
            <a:avLst/>
          </a:prstGeom>
          <a:solidFill>
            <a:srgbClr val="F0F8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6792" y="3931920"/>
            <a:ext cx="109728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41148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B5E20"/>
                </a:solidFill>
                <a:latin typeface="Segoe UI"/>
              </a:defRPr>
            </a:pPr>
            <a:r>
              <a:t>Farmer Digital Inclusivity</a:t>
            </a:r>
          </a:p>
          <a:p>
            <a:pPr algn="l">
              <a:defRPr sz="1100" b="0" i="0">
                <a:solidFill>
                  <a:srgbClr val="212121"/>
                </a:solidFill>
                <a:latin typeface="Calibri"/>
              </a:defRPr>
            </a:pPr>
            <a:r>
              <a:t>The bilingual interface, clear color-coded dials, and automatic SMS notification system break down technology barriers, bringing modern IoT power to traditional farming.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14 / 15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0" y="731520"/>
            <a:ext cx="521208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ank_you_visual_1780668816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144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5029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Aft>
                <a:spcPts val="2500"/>
              </a:spcAft>
              <a:defRPr sz="2100" b="1">
                <a:solidFill>
                  <a:srgbClr val="F0F8F1"/>
                </a:solidFill>
                <a:latin typeface="Segoe UI"/>
              </a:defRPr>
            </a:pPr>
            <a:r>
              <a:t>Questions &amp; Answers</a:t>
            </a:r>
          </a:p>
          <a:p>
            <a:pPr>
              <a:spcAft>
                <a:spcPts val="15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IoT-Based Smart Soil Analysis and AI-Powered Crop Recommendation System</a:t>
            </a:r>
          </a:p>
          <a:p>
            <a:pPr>
              <a:spcAft>
                <a:spcPts val="1500"/>
              </a:spcAft>
              <a:defRPr sz="1300">
                <a:solidFill>
                  <a:srgbClr val="F8F9FA"/>
                </a:solidFill>
                <a:latin typeface="Calibri"/>
              </a:defRPr>
            </a:pPr>
            <a:r>
              <a:t>Students:</a:t>
            </a:r>
            <a:br/>
            <a:r>
              <a:t>▪ Jeba Takia (210104)</a:t>
            </a:r>
            <a:br/>
            <a:r>
              <a:t>▪ MD Mushfiqur Rahman Mahim (210131)</a:t>
            </a:r>
          </a:p>
          <a:p>
            <a:pPr>
              <a:defRPr sz="1200">
                <a:solidFill>
                  <a:srgbClr val="F8F9FA"/>
                </a:solidFill>
                <a:latin typeface="Calibri"/>
              </a:defRPr>
            </a:pPr>
            <a:r>
              <a:t>Department of Computer Science and Engineering</a:t>
            </a:r>
            <a:br/>
            <a:r>
              <a:t>Daffodil Institute of IT</a:t>
            </a:r>
            <a:br/>
            <a:r>
              <a:t>Session 2020-21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900" b="1">
                <a:solidFill>
                  <a:srgbClr val="757575"/>
                </a:solidFill>
                <a:latin typeface="Segoe UI"/>
              </a:defRPr>
            </a:pPr>
            <a:r>
              <a:t>15 / 15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